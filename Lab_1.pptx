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72" r:id="rId7"/>
    <p:sldId id="268" r:id="rId8"/>
    <p:sldId id="269" r:id="rId9"/>
    <p:sldId id="259" r:id="rId10"/>
    <p:sldId id="262" r:id="rId11"/>
    <p:sldId id="270" r:id="rId12"/>
    <p:sldId id="267" r:id="rId13"/>
    <p:sldId id="271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CE6E99-112B-D462-36F1-C4A481BF8523}" v="3" dt="2026-08-21T17:01:26.812"/>
    <p1510:client id="{9AB29286-DF96-3D73-3413-5DCDC7D03DEC}" v="22" dt="2026-08-21T16:53:39.57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2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E11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E11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E11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E11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12188951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148" y="904112"/>
            <a:ext cx="11131702" cy="1096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E11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9708" y="2056891"/>
            <a:ext cx="9594215" cy="405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88951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02588" y="2667000"/>
            <a:ext cx="9601200" cy="9130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s-ES" sz="2800" dirty="0"/>
              <a:t>GUÍA </a:t>
            </a:r>
            <a:r>
              <a:rPr lang="es-ES" sz="2800" dirty="0" err="1"/>
              <a:t>N°</a:t>
            </a:r>
            <a:r>
              <a:rPr lang="es-ES" sz="2800" dirty="0"/>
              <a:t> 1: RECONOCIMIENTO Y DESARROLLO DEL MODELO DE VAN DER WAALS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E318B9-71B3-4E2C-90EF-871973B516DF}"/>
              </a:ext>
            </a:extLst>
          </p:cNvPr>
          <p:cNvSpPr txBox="1"/>
          <p:nvPr/>
        </p:nvSpPr>
        <p:spPr>
          <a:xfrm>
            <a:off x="2971800" y="1600200"/>
            <a:ext cx="6862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200" b="1" dirty="0"/>
              <a:t>FISICOQUÍMICA FARMACÉUTICA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88951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6800" y="2000121"/>
            <a:ext cx="8515350" cy="34480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11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C00000"/>
                </a:solidFill>
                <a:latin typeface="Calibri"/>
                <a:cs typeface="Calibri"/>
              </a:rPr>
              <a:t>Inicio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4400" y="2339278"/>
            <a:ext cx="10668000" cy="21794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s-ES" sz="2800" dirty="0">
                <a:latin typeface="Times New Roman"/>
                <a:cs typeface="Times New Roman"/>
              </a:rPr>
              <a:t>• Determinar las diferencias entre el comportamiento de los gases ideales y reales utilizando el modelo de Van </a:t>
            </a:r>
            <a:r>
              <a:rPr lang="es-ES" sz="2800" dirty="0" err="1">
                <a:latin typeface="Times New Roman"/>
                <a:cs typeface="Times New Roman"/>
              </a:rPr>
              <a:t>der</a:t>
            </a:r>
            <a:r>
              <a:rPr lang="es-ES" sz="2800" dirty="0">
                <a:latin typeface="Times New Roman"/>
                <a:cs typeface="Times New Roman"/>
              </a:rPr>
              <a:t> Waals. </a:t>
            </a: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s-ES" sz="2800" dirty="0">
                <a:latin typeface="Times New Roman"/>
                <a:cs typeface="Times New Roman"/>
              </a:rPr>
              <a:t>• Calcular los parámetros del modelo de Van </a:t>
            </a:r>
            <a:r>
              <a:rPr lang="es-ES" sz="2800" dirty="0" err="1">
                <a:latin typeface="Times New Roman"/>
                <a:cs typeface="Times New Roman"/>
              </a:rPr>
              <a:t>der</a:t>
            </a:r>
            <a:r>
              <a:rPr lang="es-ES" sz="2800" dirty="0">
                <a:latin typeface="Times New Roman"/>
                <a:cs typeface="Times New Roman"/>
              </a:rPr>
              <a:t> Waals (a y b) a partir de datos experimentales obtenidos en condiciones controladas de presión y temperatura. 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C9E77A-2E9D-46AA-8B5E-1FF4806EC97B}"/>
              </a:ext>
            </a:extLst>
          </p:cNvPr>
          <p:cNvSpPr txBox="1"/>
          <p:nvPr/>
        </p:nvSpPr>
        <p:spPr>
          <a:xfrm>
            <a:off x="2362200" y="1295400"/>
            <a:ext cx="7880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OBJETIVOS ESPECÍFICOS DE LA PRÁCTICA</a:t>
            </a:r>
            <a:endParaRPr lang="es-PE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56E7-9B74-5E4A-1E74-248139F0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145D0F8-3AB5-1F0E-1D3F-C18EC9F4D58E}"/>
              </a:ext>
            </a:extLst>
          </p:cNvPr>
          <p:cNvSpPr txBox="1"/>
          <p:nvPr/>
        </p:nvSpPr>
        <p:spPr>
          <a:xfrm>
            <a:off x="2362200" y="1295400"/>
            <a:ext cx="1861407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ES" sz="2800" b="1"/>
              <a:t>UTILIDAD</a:t>
            </a:r>
            <a:endParaRPr lang="es-ES"/>
          </a:p>
        </p:txBody>
      </p:sp>
      <p:pic>
        <p:nvPicPr>
          <p:cNvPr id="2" name="Imagen 1" descr="🫁 GASES MEDICINALES EN HOSPITALES Los gases medicinales se utilizan en  oxigenoterapia, ventilación, analgesia, sedación y procedimientos clínicos,  siempre bajo indicación y monitoreo profesional. ⚠️ Contenido educativo en  salud. No sustituye la">
            <a:extLst>
              <a:ext uri="{FF2B5EF4-FFF2-40B4-BE49-F238E27FC236}">
                <a16:creationId xmlns:a16="http://schemas.microsoft.com/office/drawing/2014/main" id="{FE3D13EA-0FC7-42E2-4947-8074B534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649" y="1301780"/>
            <a:ext cx="3800475" cy="47720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CC4EA19-3918-7700-BA4F-E43250FBBBB0}"/>
              </a:ext>
            </a:extLst>
          </p:cNvPr>
          <p:cNvSpPr txBox="1"/>
          <p:nvPr/>
        </p:nvSpPr>
        <p:spPr>
          <a:xfrm>
            <a:off x="690113" y="306956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u="none" strike="noStrike">
                <a:latin typeface="Google Sans"/>
                <a:ea typeface="Google Sans"/>
                <a:cs typeface="Google Sans"/>
              </a:rPr>
              <a:t>En la industria farmacéutica, los </a:t>
            </a:r>
            <a:r>
              <a:rPr lang="en-US" b="1" u="none" strike="noStrike">
                <a:latin typeface="Google Sans"/>
                <a:ea typeface="Google Sans"/>
                <a:cs typeface="Google Sans"/>
              </a:rPr>
              <a:t>gases reales</a:t>
            </a:r>
            <a:r>
              <a:rPr lang="en-US"/>
              <a:t> (gases que no se comportan exactamente como el modelo ideal debido a las fuerzas intermoleculares y al volumen de sus partículas) son fundamentales para garantizar la estabilidad, pureza y fabricación de los medicamentos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7890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3" y="0"/>
            <a:ext cx="12173077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338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Transformación</a:t>
            </a:r>
            <a:endParaRPr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0459AB6-C7C5-4721-9695-0BB21972D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452116"/>
            <a:ext cx="5267743" cy="4728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3" y="0"/>
            <a:ext cx="12173077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338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Transformación</a:t>
            </a:r>
            <a:endParaRPr sz="2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17FAA2-2022-4D90-95CA-50061231B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58" y="1571606"/>
            <a:ext cx="9229781" cy="30765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75F2377-CD2F-461C-8F54-EFF2E620E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892226"/>
            <a:ext cx="3572794" cy="12799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C05D3B-D6E1-4156-A5EC-8E25896C9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765065"/>
            <a:ext cx="1776958" cy="140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1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3" y="0"/>
            <a:ext cx="12173077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338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Transformación</a:t>
            </a:r>
            <a:endParaRPr sz="280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C05D3B-D6E1-4156-A5EC-8E25896C9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778" y="1066800"/>
            <a:ext cx="1776958" cy="140713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6033E0-A3A6-4D89-9D11-052EB7987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76" y="1524000"/>
            <a:ext cx="5010849" cy="34294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5BF178E-2C83-4D75-BA26-EAA77C99B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84" y="2057399"/>
            <a:ext cx="8337915" cy="415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3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3" y="0"/>
            <a:ext cx="12173077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338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Transformación</a:t>
            </a:r>
            <a:endParaRPr sz="280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C05D3B-D6E1-4156-A5EC-8E25896C9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778" y="1066800"/>
            <a:ext cx="1776958" cy="140713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6033E0-A3A6-4D89-9D11-052EB7987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039" y="1452116"/>
            <a:ext cx="5010849" cy="342948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1EEC4EA-05BD-4F87-AFA9-C60730BA1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73615"/>
              </p:ext>
            </p:extLst>
          </p:nvPr>
        </p:nvGraphicFramePr>
        <p:xfrm>
          <a:off x="534502" y="1978799"/>
          <a:ext cx="7771258" cy="3975089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48840">
                  <a:extLst>
                    <a:ext uri="{9D8B030D-6E8A-4147-A177-3AD203B41FA5}">
                      <a16:colId xmlns:a16="http://schemas.microsoft.com/office/drawing/2014/main" val="2878854845"/>
                    </a:ext>
                  </a:extLst>
                </a:gridCol>
                <a:gridCol w="4722418">
                  <a:extLst>
                    <a:ext uri="{9D8B030D-6E8A-4147-A177-3AD203B41FA5}">
                      <a16:colId xmlns:a16="http://schemas.microsoft.com/office/drawing/2014/main" val="3647258367"/>
                    </a:ext>
                  </a:extLst>
                </a:gridCol>
              </a:tblGrid>
              <a:tr h="384218">
                <a:tc>
                  <a:txBody>
                    <a:bodyPr/>
                    <a:lstStyle/>
                    <a:p>
                      <a:pPr algn="l"/>
                      <a:r>
                        <a:rPr lang="es-PE" sz="2000" b="1">
                          <a:effectLst/>
                        </a:rPr>
                        <a:t>Dato</a:t>
                      </a:r>
                      <a:endParaRPr lang="es-PE" sz="2000" b="1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60443" marR="80591" marT="50370" marB="5037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000" b="1" dirty="0">
                          <a:effectLst/>
                        </a:rPr>
                        <a:t>¿Cómo lo obtienes?</a:t>
                      </a:r>
                      <a:endParaRPr lang="es-PE" sz="2000" b="1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91" marR="80591" marT="50370" marB="50370" anchor="ctr"/>
                </a:tc>
                <a:extLst>
                  <a:ext uri="{0D108BD9-81ED-4DB2-BD59-A6C34878D82A}">
                    <a16:rowId xmlns:a16="http://schemas.microsoft.com/office/drawing/2014/main" val="2711707760"/>
                  </a:ext>
                </a:extLst>
              </a:tr>
              <a:tr h="439035">
                <a:tc>
                  <a:txBody>
                    <a:bodyPr/>
                    <a:lstStyle/>
                    <a:p>
                      <a:r>
                        <a:rPr lang="es-PE" sz="1600">
                          <a:effectLst/>
                        </a:rPr>
                        <a:t>Masa de NaHCO₃</a:t>
                      </a:r>
                      <a:endParaRPr lang="es-PE" sz="16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60443" marR="80591" marT="50370" marB="50370" anchor="ctr"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5,00 g (anota el peso exacto de tu balanza)</a:t>
                      </a:r>
                      <a:endParaRPr lang="es-E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91" marR="60443" marT="50370" marB="50370" anchor="ctr"/>
                </a:tc>
                <a:extLst>
                  <a:ext uri="{0D108BD9-81ED-4DB2-BD59-A6C34878D82A}">
                    <a16:rowId xmlns:a16="http://schemas.microsoft.com/office/drawing/2014/main" val="3306343122"/>
                  </a:ext>
                </a:extLst>
              </a:tr>
              <a:tr h="439035">
                <a:tc>
                  <a:txBody>
                    <a:bodyPr/>
                    <a:lstStyle/>
                    <a:p>
                      <a:r>
                        <a:rPr lang="es-PE" sz="1600" dirty="0">
                          <a:effectLst/>
                        </a:rPr>
                        <a:t>Volumen de CO₂ recogido (V</a:t>
                      </a:r>
                      <a:r>
                        <a:rPr lang="es-PE" sz="1600" baseline="-25000" dirty="0">
                          <a:effectLst/>
                        </a:rPr>
                        <a:t>medido</a:t>
                      </a:r>
                      <a:r>
                        <a:rPr lang="es-PE" sz="1600" dirty="0">
                          <a:effectLst/>
                        </a:rPr>
                        <a:t>​)</a:t>
                      </a: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60443" marR="80591" marT="50370" marB="50370" anchor="ctr"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Lo lees en la probeta invertida (ejemplo: 1,35 L)</a:t>
                      </a:r>
                      <a:endParaRPr lang="es-E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91" marR="60443" marT="50370" marB="50370" anchor="ctr"/>
                </a:tc>
                <a:extLst>
                  <a:ext uri="{0D108BD9-81ED-4DB2-BD59-A6C34878D82A}">
                    <a16:rowId xmlns:a16="http://schemas.microsoft.com/office/drawing/2014/main" val="3906571405"/>
                  </a:ext>
                </a:extLst>
              </a:tr>
              <a:tr h="439035">
                <a:tc>
                  <a:txBody>
                    <a:bodyPr/>
                    <a:lstStyle/>
                    <a:p>
                      <a:r>
                        <a:rPr lang="es-PE" sz="1600" dirty="0">
                          <a:effectLst/>
                        </a:rPr>
                        <a:t>Temperatura ambiente (T)</a:t>
                      </a: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60443" marR="80591" marT="50370" marB="50370" anchor="ctr"/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</a:rPr>
                        <a:t>Con termómetro (ejemplo: 298 K = 25 °C)</a:t>
                      </a:r>
                      <a:endParaRPr lang="es-ES" sz="16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91" marR="60443" marT="50370" marB="50370" anchor="ctr"/>
                </a:tc>
                <a:extLst>
                  <a:ext uri="{0D108BD9-81ED-4DB2-BD59-A6C34878D82A}">
                    <a16:rowId xmlns:a16="http://schemas.microsoft.com/office/drawing/2014/main" val="2201780262"/>
                  </a:ext>
                </a:extLst>
              </a:tr>
              <a:tr h="1126222">
                <a:tc>
                  <a:txBody>
                    <a:bodyPr/>
                    <a:lstStyle/>
                    <a:p>
                      <a:r>
                        <a:rPr lang="es-PE" sz="1600" dirty="0">
                          <a:effectLst/>
                        </a:rPr>
                        <a:t>Presión atmosférica (P</a:t>
                      </a:r>
                      <a:r>
                        <a:rPr lang="es-PE" sz="1600" baseline="-25000" dirty="0">
                          <a:effectLst/>
                        </a:rPr>
                        <a:t>atm</a:t>
                      </a:r>
                      <a:r>
                        <a:rPr lang="es-PE" sz="1600" dirty="0">
                          <a:effectLst/>
                        </a:rPr>
                        <a:t>​)</a:t>
                      </a: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60443" marR="80591" marT="50370" marB="50370" anchor="ctr"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En Lima: 755 </a:t>
                      </a:r>
                      <a:r>
                        <a:rPr lang="es-ES" sz="1600" dirty="0" err="1">
                          <a:effectLst/>
                        </a:rPr>
                        <a:t>mmHg</a:t>
                      </a:r>
                      <a:r>
                        <a:rPr lang="es-ES" sz="1600" dirty="0">
                          <a:effectLst/>
                        </a:rPr>
                        <a:t> (0,993 atm). </a:t>
                      </a:r>
                      <a:endParaRPr lang="es-E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91" marR="60443" marT="50370" marB="50370" anchor="ctr"/>
                </a:tc>
                <a:extLst>
                  <a:ext uri="{0D108BD9-81ED-4DB2-BD59-A6C34878D82A}">
                    <a16:rowId xmlns:a16="http://schemas.microsoft.com/office/drawing/2014/main" val="3282800025"/>
                  </a:ext>
                </a:extLst>
              </a:tr>
              <a:tr h="1126222"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Presión de vapor del agua (Pvapor​)</a:t>
                      </a:r>
                      <a:endParaRPr lang="es-E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60443" marR="80591" marT="50370" marB="50370" anchor="ctr"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El gas recogido está saturado con vapor de agua. A 25 °C, P</a:t>
                      </a:r>
                      <a:r>
                        <a:rPr lang="es-ES" sz="1600" baseline="-25000" dirty="0">
                          <a:effectLst/>
                        </a:rPr>
                        <a:t>vapor</a:t>
                      </a:r>
                      <a:r>
                        <a:rPr lang="es-ES" sz="1600" dirty="0">
                          <a:effectLst/>
                        </a:rPr>
                        <a:t>=23,8 </a:t>
                      </a:r>
                      <a:r>
                        <a:rPr lang="es-ES" sz="1600" dirty="0" err="1">
                          <a:effectLst/>
                        </a:rPr>
                        <a:t>mmHg</a:t>
                      </a:r>
                      <a:r>
                        <a:rPr lang="es-ES" sz="1600" dirty="0">
                          <a:effectLst/>
                        </a:rPr>
                        <a:t> (0,0313 atm). Tienes que restarlo</a:t>
                      </a:r>
                      <a:endParaRPr lang="es-E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91" marR="60443" marT="50370" marB="50370" anchor="ctr"/>
                </a:tc>
                <a:extLst>
                  <a:ext uri="{0D108BD9-81ED-4DB2-BD59-A6C34878D82A}">
                    <a16:rowId xmlns:a16="http://schemas.microsoft.com/office/drawing/2014/main" val="2508698212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DF86B871-1B63-4A01-AC31-2ECEF0C78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575" y="2471347"/>
            <a:ext cx="3682059" cy="150565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77FDF25-AA02-480F-B9DE-A342E4355D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575" y="4360544"/>
            <a:ext cx="3486339" cy="159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0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D4ABF3D-4F7C-4CFB-99FB-DEBFF7B42811}"/>
              </a:ext>
            </a:extLst>
          </p:cNvPr>
          <p:cNvSpPr/>
          <p:nvPr/>
        </p:nvSpPr>
        <p:spPr>
          <a:xfrm>
            <a:off x="609600" y="990600"/>
            <a:ext cx="1089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b="1" dirty="0">
                <a:solidFill>
                  <a:srgbClr val="0F1115"/>
                </a:solidFill>
                <a:effectLst/>
                <a:latin typeface="quote-cjk-patch"/>
              </a:rPr>
              <a:t>MÉTODO EXPERIMENTAL :</a:t>
            </a:r>
          </a:p>
          <a:p>
            <a:pPr algn="l"/>
            <a:endParaRPr lang="es-E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/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Repite la práctica 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dos veces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con diferentes cantidades de bicarbonato (por ejemplo, 5 g y 3 g) o </a:t>
            </a:r>
            <a:r>
              <a:rPr lang="es-ES" b="1" i="0" dirty="0">
                <a:solidFill>
                  <a:srgbClr val="0F1115"/>
                </a:solidFill>
                <a:effectLst/>
                <a:latin typeface="quote-cjk-patch"/>
              </a:rPr>
              <a:t>a dos temperaturas diferentes</a:t>
            </a:r>
            <a:r>
              <a:rPr lang="es-ES" b="0" i="0" dirty="0">
                <a:solidFill>
                  <a:srgbClr val="0F1115"/>
                </a:solidFill>
                <a:effectLst/>
                <a:latin typeface="quote-cjk-patch"/>
              </a:rPr>
              <a:t> (un día frío y un día caluroso, o calentando el agua del balde).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23FA82F-1A25-4D42-844F-10B2B1EFF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62200"/>
            <a:ext cx="877529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3" y="-1"/>
            <a:ext cx="12173077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9338" y="1013205"/>
            <a:ext cx="641106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Transformación</a:t>
            </a:r>
            <a:r>
              <a:rPr sz="2800" spc="-60" dirty="0"/>
              <a:t> </a:t>
            </a:r>
            <a:r>
              <a:rPr sz="2800" dirty="0"/>
              <a:t>:</a:t>
            </a:r>
            <a:r>
              <a:rPr sz="2800" spc="-80" dirty="0"/>
              <a:t> </a:t>
            </a:r>
            <a:endParaRPr sz="2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1D1A56-A9AF-4322-BF25-750207AED7E0}"/>
              </a:ext>
            </a:extLst>
          </p:cNvPr>
          <p:cNvSpPr/>
          <p:nvPr/>
        </p:nvSpPr>
        <p:spPr>
          <a:xfrm>
            <a:off x="838200" y="1676400"/>
            <a:ext cx="9753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Paso 1: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 Con tus datos experimentales, calculas el 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volumen molar crítico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s-ES" sz="2000" b="0" i="1" dirty="0" err="1">
                <a:solidFill>
                  <a:srgbClr val="0F1115"/>
                </a:solidFill>
                <a:effectLst/>
                <a:latin typeface="KaTeX_Math"/>
              </a:rPr>
              <a:t>Vc</a:t>
            </a:r>
            <a:r>
              <a:rPr lang="es-ES" sz="2000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 (que es el volumen que ocuparía 1 mol de CO₂ en el punto crítico). En la práctica, si recogiste </a:t>
            </a:r>
            <a:r>
              <a:rPr lang="es-ES" sz="2000" b="0" i="1" dirty="0">
                <a:solidFill>
                  <a:srgbClr val="0F1115"/>
                </a:solidFill>
                <a:effectLst/>
                <a:latin typeface="KaTeX_Math"/>
              </a:rPr>
              <a:t>V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 litros y produjiste </a:t>
            </a:r>
            <a:r>
              <a:rPr lang="es-ES" sz="2000" b="0" i="1" dirty="0">
                <a:solidFill>
                  <a:srgbClr val="0F1115"/>
                </a:solidFill>
                <a:effectLst/>
                <a:latin typeface="KaTeX_Math"/>
              </a:rPr>
              <a:t>n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 moles:</a:t>
            </a:r>
            <a:endParaRPr lang="es-PE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677D3F-7F63-4235-B4B4-98982169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159" y="2631974"/>
            <a:ext cx="1776958" cy="14071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1F7EAEE-1528-488F-8BBA-6D8D2705A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9" y="3039533"/>
            <a:ext cx="2105319" cy="7525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C3C92BF-0201-4FE7-BC18-D44C3573F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968" y="2568648"/>
            <a:ext cx="4207371" cy="1927152"/>
          </a:xfrm>
          <a:prstGeom prst="rect">
            <a:avLst/>
          </a:prstGeom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68D43182-933E-49B0-84EA-0B728D0DEA46}"/>
              </a:ext>
            </a:extLst>
          </p:cNvPr>
          <p:cNvSpPr/>
          <p:nvPr/>
        </p:nvSpPr>
        <p:spPr>
          <a:xfrm rot="10275268">
            <a:off x="7657513" y="2573255"/>
            <a:ext cx="1962346" cy="1513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9B4203A-1C6A-4C95-A553-EA4C6446D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487" y="3480422"/>
            <a:ext cx="1981372" cy="451143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B5984389-1497-4FC7-A22A-E3B199D85143}"/>
              </a:ext>
            </a:extLst>
          </p:cNvPr>
          <p:cNvSpPr/>
          <p:nvPr/>
        </p:nvSpPr>
        <p:spPr>
          <a:xfrm>
            <a:off x="872524" y="384011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calculaste </a:t>
            </a:r>
          </a:p>
          <a:p>
            <a:r>
              <a:rPr lang="pt-BR" dirty="0"/>
              <a:t>n=0,0531</a:t>
            </a:r>
          </a:p>
          <a:p>
            <a:r>
              <a:rPr lang="pt-BR" dirty="0"/>
              <a:t>n=0,0531 moles</a:t>
            </a:r>
            <a:endParaRPr lang="es-P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3" y="-1"/>
            <a:ext cx="12173077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9338" y="1013205"/>
            <a:ext cx="641106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Transformación</a:t>
            </a:r>
            <a:r>
              <a:rPr sz="2800" spc="-60" dirty="0"/>
              <a:t> </a:t>
            </a:r>
            <a:r>
              <a:rPr sz="2800" dirty="0"/>
              <a:t>:</a:t>
            </a:r>
            <a:r>
              <a:rPr sz="2800" spc="-80" dirty="0"/>
              <a:t> </a:t>
            </a:r>
            <a:endParaRPr sz="2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1D1A56-A9AF-4322-BF25-750207AED7E0}"/>
              </a:ext>
            </a:extLst>
          </p:cNvPr>
          <p:cNvSpPr/>
          <p:nvPr/>
        </p:nvSpPr>
        <p:spPr>
          <a:xfrm>
            <a:off x="7153363" y="1671083"/>
            <a:ext cx="2133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>
                <a:solidFill>
                  <a:srgbClr val="0F1115"/>
                </a:solidFill>
                <a:latin typeface="quote-cjk-patch"/>
              </a:rPr>
              <a:t>n=0,0531 moles</a:t>
            </a:r>
            <a:endParaRPr lang="es-ES" sz="2000" b="1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6BADD2-A923-42BE-8585-8759AFBC7A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77"/>
          <a:stretch/>
        </p:blipFill>
        <p:spPr>
          <a:xfrm>
            <a:off x="990600" y="2209800"/>
            <a:ext cx="9710833" cy="353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1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148" y="1104646"/>
            <a:ext cx="1492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Cierre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9708" y="2701239"/>
            <a:ext cx="958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772126-EBA3-4240-88E6-1B41A68A0DE0}"/>
              </a:ext>
            </a:extLst>
          </p:cNvPr>
          <p:cNvSpPr/>
          <p:nvPr/>
        </p:nvSpPr>
        <p:spPr>
          <a:xfrm>
            <a:off x="1066800" y="2124431"/>
            <a:ext cx="10744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Preguntas de Discusión: </a:t>
            </a:r>
          </a:p>
          <a:p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¿Por qué los gases ideales no se comportan de manera precisa en todas las condiciones? 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¿Cómo las fuerzas intermoleculares afectan el comportamiento de los gases reales? 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¿Cuáles son las aplicaciones prácticas del modelo de Van </a:t>
            </a:r>
            <a:r>
              <a:rPr lang="es-ES" dirty="0" err="1"/>
              <a:t>der</a:t>
            </a:r>
            <a:r>
              <a:rPr lang="es-ES" dirty="0"/>
              <a:t> Waals en la industria farmacéutica? </a:t>
            </a:r>
            <a:endParaRPr lang="es-P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0" y="3001594"/>
            <a:ext cx="434665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pc="-10" dirty="0"/>
              <a:t>Conclusiones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19708" y="2701239"/>
            <a:ext cx="958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772126-EBA3-4240-88E6-1B41A68A0DE0}"/>
              </a:ext>
            </a:extLst>
          </p:cNvPr>
          <p:cNvSpPr/>
          <p:nvPr/>
        </p:nvSpPr>
        <p:spPr>
          <a:xfrm>
            <a:off x="867650" y="3722029"/>
            <a:ext cx="10744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Preguntas de Discusión: </a:t>
            </a:r>
          </a:p>
          <a:p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¿Por qué los gases ideales no se comportan de manera precisa en todas las condiciones? 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¿Cómo las fuerzas intermoleculares afectan el comportamiento de los gases reales? 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¿Cuáles son las aplicaciones prácticas del modelo de Van </a:t>
            </a:r>
            <a:r>
              <a:rPr lang="es-ES" dirty="0" err="1"/>
              <a:t>der</a:t>
            </a:r>
            <a:r>
              <a:rPr lang="es-ES" dirty="0"/>
              <a:t> Waals en la industria farmacéutica? </a:t>
            </a:r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D04B2C-66A8-43FC-AB5A-A33BFCB03770}"/>
              </a:ext>
            </a:extLst>
          </p:cNvPr>
          <p:cNvSpPr/>
          <p:nvPr/>
        </p:nvSpPr>
        <p:spPr>
          <a:xfrm>
            <a:off x="990600" y="1071315"/>
            <a:ext cx="10744200" cy="1213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s-ES" sz="1800" dirty="0">
                <a:latin typeface="Times New Roman"/>
                <a:cs typeface="Times New Roman"/>
              </a:rPr>
              <a:t>• Determinar las diferencias entre el comportamiento de los gases ideales y reales utilizando el modelo de Van </a:t>
            </a:r>
            <a:r>
              <a:rPr lang="es-ES" sz="1800" dirty="0" err="1">
                <a:latin typeface="Times New Roman"/>
                <a:cs typeface="Times New Roman"/>
              </a:rPr>
              <a:t>der</a:t>
            </a:r>
            <a:r>
              <a:rPr lang="es-ES" sz="1800" dirty="0">
                <a:latin typeface="Times New Roman"/>
                <a:cs typeface="Times New Roman"/>
              </a:rPr>
              <a:t> Waals. </a:t>
            </a: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s-ES" sz="1800" dirty="0">
                <a:latin typeface="Times New Roman"/>
                <a:cs typeface="Times New Roman"/>
              </a:rPr>
              <a:t>• Calcular los parámetros del modelo de Van </a:t>
            </a:r>
            <a:r>
              <a:rPr lang="es-ES" sz="1800" dirty="0" err="1">
                <a:latin typeface="Times New Roman"/>
                <a:cs typeface="Times New Roman"/>
              </a:rPr>
              <a:t>der</a:t>
            </a:r>
            <a:r>
              <a:rPr lang="es-ES" sz="1800" dirty="0">
                <a:latin typeface="Times New Roman"/>
                <a:cs typeface="Times New Roman"/>
              </a:rPr>
              <a:t> Waals (a y b) a partir de datos experimentales obtenidos en condiciones controladas de presión y temperatura. </a:t>
            </a:r>
          </a:p>
        </p:txBody>
      </p:sp>
    </p:spTree>
    <p:extLst>
      <p:ext uri="{BB962C8B-B14F-4D97-AF65-F5344CB8AC3E}">
        <p14:creationId xmlns:p14="http://schemas.microsoft.com/office/powerpoint/2010/main" val="1341178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355</Words>
  <Application>Microsoft Office PowerPoint</Application>
  <PresentationFormat>Panorámica</PresentationFormat>
  <Paragraphs>52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GUÍA N° 1: RECONOCIMIENTO Y DESARROLLO DEL MODELO DE VAN DER WAALS</vt:lpstr>
      <vt:lpstr>Inicio</vt:lpstr>
      <vt:lpstr>Presentación de PowerPoint</vt:lpstr>
      <vt:lpstr>Presentación de PowerPoint</vt:lpstr>
      <vt:lpstr>Transformación</vt:lpstr>
      <vt:lpstr>Transformación</vt:lpstr>
      <vt:lpstr>Transformación</vt:lpstr>
      <vt:lpstr>Transformación</vt:lpstr>
      <vt:lpstr>Presentación de PowerPoint</vt:lpstr>
      <vt:lpstr>Transformación : </vt:lpstr>
      <vt:lpstr>Transformación : </vt:lpstr>
      <vt:lpstr>Cierre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N° 1: RECONOCIMIENTO Y DESARROLLO DEL MODELO DE VAN DER WAALS</dc:title>
  <dc:creator>Nina Margarita Colombo Ostos</dc:creator>
  <cp:lastModifiedBy>pedro lacho quispe</cp:lastModifiedBy>
  <cp:revision>24</cp:revision>
  <dcterms:created xsi:type="dcterms:W3CDTF">2026-08-21T13:04:47Z</dcterms:created>
  <dcterms:modified xsi:type="dcterms:W3CDTF">2026-08-21T21:59:01Z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2026-08-21T00:00:00Z</vt:filetime>
  </property>
  <property fmtid="{D5CDD505-2E9C-101B-9397-08002B2CF9AE}" pid="6" name="Producer">
    <vt:lpwstr>Microsoft® PowerPoint® para Microsoft 365</vt:lpwstr>
  </property>
</Properties>
</file>